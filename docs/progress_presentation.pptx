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9A2E"/>
                </a:solidFill>
                <a:latin typeface="Calibri"/>
              </a:rPr>
              <a:t>ΔΙΠΛΩΜΑΤΙΚΗ ΕΡΓΑΣΙΑ · ΑΝΑΦΟΡΑ ΠΡΟΟΔΟΥ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Επιτάχυνση MobileNetV2 σε FPGA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για Ανίχνευση Ασθενειών Αμπελιού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977639"/>
            <a:ext cx="2011680" cy="50800"/>
          </a:xfrm>
          <a:prstGeom prst="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D9CFE8"/>
                </a:solidFill>
                <a:latin typeface="Calibri"/>
              </a:rPr>
              <a:t>Zynq UltraScale+ MPSoC · Verilog-2001 · int8 quantization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D9CFE8"/>
                </a:solidFill>
                <a:latin typeface="Calibri"/>
              </a:rPr>
              <a:t>Bit-exact επαλήθευση software ↔ hardware μέσω golden vectors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Κωνσταντίνος Φρατζέσκος   ·   22 Ιουλίου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ΣΤΌΧΟΣ &amp; ΚΊΝΗΤΡΟ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Τι προσπαθώ να πετύχω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60350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4C8D4A"/>
                </a:solidFill>
                <a:latin typeface="Calibri"/>
              </a:rPr>
              <a:t>▸  </a:t>
            </a:r>
            <a:r>
              <a:rPr sz="1800" b="0">
                <a:solidFill>
                  <a:srgbClr val="222529"/>
                </a:solidFill>
                <a:latin typeface="Calibri"/>
              </a:rPr>
              <a:t>Ταξινόμηση ασθενειών φύλλων αμπελιού από εικόνα (4 κλάσεις).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6C757D"/>
                </a:solidFill>
                <a:latin typeface="Calibri"/>
              </a:rPr>
              <a:t>–  </a:t>
            </a:r>
            <a:r>
              <a:rPr sz="1600" b="0">
                <a:solidFill>
                  <a:srgbClr val="6C757D"/>
                </a:solidFill>
                <a:latin typeface="Calibri"/>
              </a:rPr>
              <a:t>Black Rot · ESCA · Leaf Blight · Healthy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4C8D4A"/>
                </a:solidFill>
                <a:latin typeface="Calibri"/>
              </a:rPr>
              <a:t>▸  </a:t>
            </a:r>
            <a:r>
              <a:rPr sz="1800" b="0">
                <a:solidFill>
                  <a:srgbClr val="222529"/>
                </a:solidFill>
                <a:latin typeface="Calibri"/>
              </a:rPr>
              <a:t>Εκτέλεση του νευρωνικού δικτύου σε υλικό (FPGA), όχι σε CPU/GPU.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6C757D"/>
                </a:solidFill>
                <a:latin typeface="Calibri"/>
              </a:rPr>
              <a:t>–  </a:t>
            </a:r>
            <a:r>
              <a:rPr sz="1600" b="0">
                <a:solidFill>
                  <a:srgbClr val="6C757D"/>
                </a:solidFill>
                <a:latin typeface="Calibri"/>
              </a:rPr>
              <a:t>Χαμηλή κατανάλωση, real-time inference, edge / IoT στο χωράφι.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4C8D4A"/>
                </a:solidFill>
                <a:latin typeface="Calibri"/>
              </a:rPr>
              <a:t>▸  </a:t>
            </a:r>
            <a:r>
              <a:rPr sz="1800" b="0">
                <a:solidFill>
                  <a:srgbClr val="222529"/>
                </a:solidFill>
                <a:latin typeface="Calibri"/>
              </a:rPr>
              <a:t>Χειρόγραφο RTL (Verilog) — πλήρης έλεγχος &amp; κατανόηση της αρχιτεκτονικής.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4C8D4A"/>
                </a:solidFill>
                <a:latin typeface="Calibri"/>
              </a:rPr>
              <a:t>▸  </a:t>
            </a:r>
            <a:r>
              <a:rPr sz="1800" b="0">
                <a:solidFill>
                  <a:srgbClr val="222529"/>
                </a:solidFill>
                <a:latin typeface="Calibri"/>
              </a:rPr>
              <a:t>Η ουσιαστική συνεισφορά είναι ο επιταχυντής υλικού, όχι το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28800"/>
            <a:ext cx="4709160" cy="402336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1828800"/>
            <a:ext cx="82296" cy="4023360"/>
          </a:xfrm>
          <a:prstGeom prst="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975104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8D4A"/>
                </a:solidFill>
                <a:latin typeface="Calibri"/>
              </a:rPr>
              <a:t>Γιατί FPGA;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95728"/>
            <a:ext cx="42976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>•  Παραλληλισμός: χιλιάδες MAC ταυτόχρονα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>•  Ντετερμινιστική καθυστέρηση (latency)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>•  Ενεργειακή απόδοση vs GPU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>•  Ενσωμάτωση αισθητήρων &amp; κάμερας (IoT)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22529"/>
                </a:solidFill>
                <a:latin typeface="Calibri"/>
              </a:rPr>
              <a:t>•  int8 αριθμητική → φθηνό, μικρό, γρήγορο υλικό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ΑΡΧΙΤΕΚΤΟΝΙΚΉ &amp; ΜΕΘΟΔΟΛΟΓΊΑ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Η «ραχοκοκαλιά» επαλήθευσης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6C757D"/>
                </a:solidFill>
                <a:latin typeface="Calibri"/>
              </a:rPr>
              <a:t>Το software int8 μοντέλο είναι η «πηγή αλήθειας». Κάθε επίπεδο παράγει το ακριβές ακέραιο αποτέλεσμα (golden vectors)· κάθε block υλικού ελέγχεται bit-for-bit.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51760"/>
            <a:ext cx="1992111" cy="15544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PyTorch
MobileNetV2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15968"/>
            <a:ext cx="19921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float32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εκπαίδευση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77327" y="3282696"/>
            <a:ext cx="237744" cy="292608"/>
          </a:xfrm>
          <a:prstGeom prst="rightArrow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3359" y="2651760"/>
            <a:ext cx="1992111" cy="1554480"/>
          </a:xfrm>
          <a:prstGeom prst="round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int8
Quantization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4315968"/>
            <a:ext cx="19921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per-channel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weights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3758" y="3282696"/>
            <a:ext cx="237744" cy="292608"/>
          </a:xfrm>
          <a:prstGeom prst="rightArrow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9790" y="2651760"/>
            <a:ext cx="1992111" cy="1554480"/>
          </a:xfrm>
          <a:prstGeom prst="round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export.py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9790" y="4315968"/>
            <a:ext cx="19921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weights hex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+ golden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0189" y="3282696"/>
            <a:ext cx="237744" cy="292608"/>
          </a:xfrm>
          <a:prstGeom prst="rightArrow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6221" y="2651760"/>
            <a:ext cx="1992111" cy="15544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 reference
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6221" y="4315968"/>
            <a:ext cx="19921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bit-exact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ακέραιοι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76620" y="3282696"/>
            <a:ext cx="237744" cy="292608"/>
          </a:xfrm>
          <a:prstGeom prst="rightArrow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32652" y="2651760"/>
            <a:ext cx="1992111" cy="1554480"/>
          </a:xfrm>
          <a:prstGeom prst="roundRect">
            <a:avLst/>
          </a:prstGeom>
          <a:solidFill>
            <a:srgbClr val="3B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Verilog
RTL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2652" y="4315968"/>
            <a:ext cx="19921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FPGA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hardware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29200"/>
            <a:ext cx="11064240" cy="114300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93792"/>
            <a:ext cx="10515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529"/>
                </a:solidFill>
                <a:latin typeface="Calibri"/>
              </a:rPr>
              <a:t>DD-006 · Επαλήθευση με golden vectors:  απομονώνει σφάλματα σε ένα μόνο layer, δίνει αντικειμενική σύγκριση hardware ↔ software, και κρατά ολόκληρο το project «τίμιο».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ΟΡΙΟΘΈΤΗΣΗ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Κλιμακωτοί στόχοι επιτυχίας (scope)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11064240" cy="123444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82296" cy="1234440"/>
          </a:xfrm>
          <a:prstGeom prst="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75104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8D4A"/>
                </a:solidFill>
                <a:latin typeface="Calibri"/>
              </a:rPr>
              <a:t>CORE — ο πήχης της επιτροπής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95728"/>
            <a:ext cx="10652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22529"/>
                </a:solidFill>
                <a:latin typeface="Calibri"/>
              </a:rPr>
              <a:t>Εικόνα από κάρτα SD → FPGA → κλάση ασθένειας.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22529"/>
                </a:solidFill>
                <a:latin typeface="Calibri"/>
              </a:rPr>
              <a:t>Πλήρες δίκτυο bit-exact σε προσομοίωση.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46120"/>
            <a:ext cx="11064240" cy="123444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46120"/>
            <a:ext cx="82296" cy="12344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392424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B2A86"/>
                </a:solidFill>
                <a:latin typeface="Calibri"/>
              </a:rP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813048"/>
            <a:ext cx="10652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22529"/>
                </a:solidFill>
                <a:latin typeface="Calibri"/>
              </a:rPr>
              <a:t>Ολόκληρο το MobileNetV2 να τρέχει bit-exact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22529"/>
                </a:solidFill>
                <a:latin typeface="Calibri"/>
              </a:rPr>
              <a:t>έναντι του software μοντέλου στο simulation.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63440"/>
            <a:ext cx="11064240" cy="123444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63440"/>
            <a:ext cx="82296" cy="12344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809744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9A2E"/>
                </a:solidFill>
                <a:latin typeface="Calibri"/>
              </a:rPr>
              <a:t>STRETCH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230368"/>
            <a:ext cx="10652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22529"/>
                </a:solidFill>
                <a:latin typeface="Calibri"/>
              </a:rPr>
              <a:t>Ζωντανή κάμερα → αποτέλεσμα ασθένειας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22529"/>
                </a:solidFill>
                <a:latin typeface="Calibri"/>
              </a:rPr>
              <a:t>σε πραγματικό χρόνο.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C757D"/>
                </a:solidFill>
                <a:latin typeface="Calibri"/>
              </a:rPr>
              <a:t>Κλιμάκωση = εγγυημένο, υπερασπίσιμο αποτέλεσμα ακόμη κι αν το on-board / κάμερα καθυστερήσουν (DD-004).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ΣΧΕΔΙΑΣΤΙΚΈΣ ΑΠΟΦΆΣΕΙΣ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Κρίσιμες επιλογές που τεκμηριώθηκαν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5577840" cy="201168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82296" cy="2011680"/>
          </a:xfrm>
          <a:prstGeom prst="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75104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8D4A"/>
                </a:solidFill>
                <a:latin typeface="Calibri"/>
              </a:rPr>
              <a:t>int8 Quantization (DD-005)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95728"/>
            <a:ext cx="5166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529"/>
                </a:solidFill>
                <a:latin typeface="Calibri"/>
              </a:rPr>
              <a:t>TFLite-style · per-channel weights, per-tensor activations. BatchNorm folded στα weights. Requantize = fixed-point πολλαπλασιαστής + shift, clamp στο ReLU6.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577840" cy="201168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82296" cy="20116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75104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B2A86"/>
                </a:solidFill>
                <a:latin typeface="Calibri"/>
              </a:rPr>
              <a:t>Επαναχρησιμοποιούμενες μηχανές (DD-003)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95728"/>
            <a:ext cx="5166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529"/>
                </a:solidFill>
                <a:latin typeface="Calibri"/>
              </a:rPr>
              <a:t>~6 παραμετρικά engines (1×1, 3×3 depthwise, requantize+ReLU6, residual-add, bias) αντί για ένα module ανά layer. Ένας controller τα ενορχηστρώνει.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69080"/>
            <a:ext cx="5577840" cy="201168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69080"/>
            <a:ext cx="82296" cy="201168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215384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9A2E"/>
                </a:solidFill>
                <a:latin typeface="Calibri"/>
              </a:rPr>
              <a:t>Golden-vector επαλήθευση (DD-006)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636008"/>
            <a:ext cx="5166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529"/>
                </a:solidFill>
                <a:latin typeface="Calibri"/>
              </a:rPr>
              <a:t>Το int8 μοντέλο εκπέμπει το ακριβές ακέραιο output κάθε layer· κάθε RTL block ελέγχεται bit-for-bit πριν προχωρήσω.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69080"/>
            <a:ext cx="5577840" cy="201168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069080"/>
            <a:ext cx="82296" cy="2011680"/>
          </a:xfrm>
          <a:prstGeom prst="rect">
            <a:avLst/>
          </a:prstGeom>
          <a:solidFill>
            <a:srgbClr val="3B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15384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185B"/>
                </a:solidFill>
                <a:latin typeface="Calibri"/>
              </a:rPr>
              <a:t>Μνήμη &amp; dataflow (DD-007)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36008"/>
            <a:ext cx="5166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529"/>
                </a:solidFill>
                <a:latin typeface="Calibri"/>
              </a:rPr>
              <a:t>Weights (3.4M) stream από DDR μέσω AXI4· activations παραμένουν on-chip σε BRAM/URAM με tiling.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ΟΛΟΚΛΗΡΩΜΈΝΟ · ΦΆΣΗ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Software μοντέλο αναφοράς (PyTorch)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64008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4C8D4A"/>
                </a:solidFill>
                <a:latin typeface="Calibri"/>
              </a:rPr>
              <a:t>▸  </a:t>
            </a:r>
            <a:r>
              <a:rPr sz="1600" b="0">
                <a:solidFill>
                  <a:srgbClr val="222529"/>
                </a:solidFill>
                <a:latin typeface="Calibri"/>
              </a:rPr>
              <a:t>Fine-tuning MobileNetV2 (ImageNet pretrained) στο dataset αμπελιού.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4C8D4A"/>
                </a:solidFill>
                <a:latin typeface="Calibri"/>
              </a:rPr>
              <a:t>▸  </a:t>
            </a:r>
            <a:r>
              <a:rPr sz="1600" b="0">
                <a:solidFill>
                  <a:srgbClr val="222529"/>
                </a:solidFill>
                <a:latin typeface="Calibri"/>
              </a:rPr>
              <a:t>quantize.py — post-training int8 quantization (53 layers).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4C8D4A"/>
                </a:solidFill>
                <a:latin typeface="Calibri"/>
              </a:rPr>
              <a:t>▸  </a:t>
            </a:r>
            <a:r>
              <a:rPr sz="1600" b="0">
                <a:solidFill>
                  <a:srgbClr val="222529"/>
                </a:solidFill>
                <a:latin typeface="Calibri"/>
              </a:rPr>
              <a:t>export.py — εξαγωγή για το υλικό: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6C757D"/>
                </a:solidFill>
                <a:latin typeface="Calibri"/>
              </a:rPr>
              <a:t>–  </a:t>
            </a:r>
            <a:r>
              <a:rPr sz="1400" b="0">
                <a:solidFill>
                  <a:srgbClr val="6C757D"/>
                </a:solidFill>
                <a:latin typeface="Calibri"/>
              </a:rPr>
              <a:t>int8 weights (hex), int32 bias (BN folded)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6C757D"/>
                </a:solidFill>
                <a:latin typeface="Calibri"/>
              </a:rPr>
              <a:t>–  </a:t>
            </a:r>
            <a:r>
              <a:rPr sz="1400" b="0">
                <a:solidFill>
                  <a:srgbClr val="6C757D"/>
                </a:solidFill>
                <a:latin typeface="Calibri"/>
              </a:rPr>
              <a:t>per-channel m0 (multiplier) + shift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6C757D"/>
                </a:solidFill>
                <a:latin typeface="Calibri"/>
              </a:rPr>
              <a:t>–  </a:t>
            </a:r>
            <a:r>
              <a:rPr sz="1400" b="0">
                <a:solidFill>
                  <a:srgbClr val="6C757D"/>
                </a:solidFill>
                <a:latin typeface="Calibri"/>
              </a:rPr>
              <a:t>golden vectors ανά layer, manifest.json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4C8D4A"/>
                </a:solidFill>
                <a:latin typeface="Calibri"/>
              </a:rPr>
              <a:t>▸  </a:t>
            </a:r>
            <a:r>
              <a:rPr sz="1600" b="0">
                <a:solidFill>
                  <a:srgbClr val="222529"/>
                </a:solidFill>
                <a:latin typeface="Calibri"/>
              </a:rPr>
              <a:t>Ειδικές πράξεις: residual add (rescale), global avg-pool (÷49 folded), int16 logits + argmax.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828800"/>
            <a:ext cx="4389120" cy="411480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2A86"/>
                </a:solidFill>
                <a:latin typeface="Calibri"/>
              </a:rPr>
              <a:t>Αριθμοί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5146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C8D4A"/>
                </a:solidFill>
                <a:latin typeface="Calibri"/>
              </a:rPr>
              <a:t>3.4M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58775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529"/>
                </a:solidFill>
                <a:latin typeface="Calibri"/>
              </a:rPr>
              <a:t>παράμετροι δικτύου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355848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C8D4A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4290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529"/>
                </a:solidFill>
                <a:latin typeface="Calibri"/>
              </a:rPr>
              <a:t>quantized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19709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C8D4A"/>
                </a:solidFill>
                <a:latin typeface="Calibri"/>
              </a:rPr>
              <a:t>int8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702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529"/>
                </a:solidFill>
                <a:latin typeface="Calibri"/>
              </a:rPr>
              <a:t>weights / activations · int32 accumulate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5038344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C8D4A"/>
                </a:solidFill>
                <a:latin typeface="Calibri"/>
              </a:rPr>
              <a:t>+0.00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111496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529"/>
                </a:solidFill>
                <a:latin typeface="Calibri"/>
              </a:rPr>
              <a:t>pts drop float → int8 (val)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ΟΛΟΚΛΗΡΩΜΈΝΟ · ΦΆΣΗ 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Bit-exact C μοντέλο αναφοράς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C757D"/>
                </a:solidFill>
                <a:latin typeface="Calibri"/>
              </a:rPr>
              <a:t>Ίδια ακέραια αριθμητική με το υλικό — η «γέφυρα» Python ⇄ Verilog. Κάθε engine είναι το spec ενός RTL kernel, debuggable σε αναγνώσιμο C πριν τα waveforms.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80"/>
            <a:ext cx="26700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185B"/>
                </a:solidFill>
                <a:latin typeface="Calibri"/>
              </a:rPr>
              <a:t>✓ requantize (int32→int8)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2468880"/>
            <a:ext cx="26700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185B"/>
                </a:solidFill>
                <a:latin typeface="Calibri"/>
              </a:rPr>
              <a:t>✓ conv3×3 standard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68880"/>
            <a:ext cx="26700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185B"/>
                </a:solidFill>
                <a:latin typeface="Calibri"/>
              </a:rPr>
              <a:t>✓ bias add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468880"/>
            <a:ext cx="26700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185B"/>
                </a:solidFill>
                <a:latin typeface="Calibri"/>
              </a:rPr>
              <a:t>✓ depthwise conv 3×3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02152"/>
            <a:ext cx="26700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185B"/>
                </a:solidFill>
                <a:latin typeface="Calibri"/>
              </a:rPr>
              <a:t>✓ conv 1×1 (pointwise)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3502152"/>
            <a:ext cx="26700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185B"/>
                </a:solidFill>
                <a:latin typeface="Calibri"/>
              </a:rPr>
              <a:t>✓ residual add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502152"/>
            <a:ext cx="26700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185B"/>
                </a:solidFill>
                <a:latin typeface="Calibri"/>
              </a:rPr>
              <a:t>✓ global average pool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502152"/>
            <a:ext cx="26700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185B"/>
                </a:solidFill>
                <a:latin typeface="Calibri"/>
              </a:rPr>
              <a:t>✓ int16 classifier (tail)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92040"/>
            <a:ext cx="11064240" cy="1280160"/>
          </a:xfrm>
          <a:prstGeom prst="roundRect">
            <a:avLst/>
          </a:prstGeom>
          <a:solidFill>
            <a:srgbClr val="3B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9A2E"/>
                </a:solidFill>
                <a:latin typeface="Calibri"/>
              </a:rPr>
              <a:t>Κανόνας requantize (ίδιος σε C και RTL):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</a:rPr>
              <a:t>out = clamp( (acc · m0 + (1 &lt;&lt; (shift−1))) &gt;&gt; shift ,  −128, 127 )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ΟΛΟΚΛΗΡΩΜΈΝΟ · ΠΟΙΌΤΗΤΑ ΔΕΔΟΜΈΝΩΝ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Εντοπισμός &amp; διόρθωση data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529"/>
                </a:solidFill>
                <a:latin typeface="Calibri"/>
              </a:rPr>
              <a:t>Το μοντέλο έβγαζε 100% accuracy. Διερεύνηση έδειξε διαρροή: augmented αντίγραφα του ίδιου φύλλου (flip/rotate) βρίσκονταν ταυτόχρονα σε train &amp; val.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514600"/>
          <a:ext cx="7680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148840"/>
                <a:gridCol w="2148840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T="36576" marB="36576" anchor="ctr">
                    <a:solidFill>
                      <a:srgbClr val="5B2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ΠΡΙΝ (leaky split)</a:t>
                      </a:r>
                    </a:p>
                  </a:txBody>
                  <a:tcPr marL="91440" marT="36576" marB="36576" anchor="ctr">
                    <a:solidFill>
                      <a:srgbClr val="5B2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ΜΕΤΑ (καθαρό, ανά φύλλο)</a:t>
                      </a:r>
                    </a:p>
                  </a:txBody>
                  <a:tcPr marL="91440" marT="36576" marB="36576" anchor="ctr">
                    <a:solidFill>
                      <a:srgbClr val="5B2A86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529"/>
                          </a:solidFill>
                          <a:latin typeface="Calibri"/>
                        </a:rPr>
                        <a:t>Healthy — val φύλλα και στο train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B02A37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4C8D4A"/>
                          </a:solidFill>
                          <a:latin typeface="Calibri"/>
                        </a:rPr>
                        <a:t>0 %  (μηδέν overlap)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529"/>
                          </a:solidFill>
                          <a:latin typeface="Calibri"/>
                        </a:rPr>
                        <a:t>Black Rot / ESCA / Leaf Blight</a:t>
                      </a:r>
                    </a:p>
                  </a:txBody>
                  <a:tcPr marL="91440" marT="36576" marB="36576" anchor="ctr">
                    <a:solidFill>
                      <a:srgbClr val="F3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B02A37"/>
                          </a:solidFill>
                          <a:latin typeface="Calibri"/>
                        </a:rPr>
                        <a:t>90 / 77 / 88 %</a:t>
                      </a:r>
                    </a:p>
                  </a:txBody>
                  <a:tcPr marL="91440" marT="36576" marB="36576" anchor="ctr">
                    <a:solidFill>
                      <a:srgbClr val="F3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4C8D4A"/>
                          </a:solidFill>
                          <a:latin typeface="Calibri"/>
                        </a:rPr>
                        <a:t>0 %  (επαληθεύθηκε)</a:t>
                      </a:r>
                    </a:p>
                  </a:txBody>
                  <a:tcPr marL="91440" marT="36576" marB="36576" anchor="ctr">
                    <a:solidFill>
                      <a:srgbClr val="F3F1F7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22529"/>
                          </a:solidFill>
                          <a:latin typeface="Calibri"/>
                        </a:rPr>
                        <a:t>Μοναδικά φυσικά φύλλα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B02A37"/>
                          </a:solidFill>
                          <a:latin typeface="Calibri"/>
                        </a:rPr>
                        <a:t>«κρυμμένα» πίσω από ×5 augmentation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4C8D4A"/>
                          </a:solidFill>
                          <a:latin typeface="Calibri"/>
                        </a:rPr>
                        <a:t>4.062 (train 3.249 / val 813)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sample_ES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514600"/>
            <a:ext cx="1508760" cy="1508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49640" y="404164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ESCA</a:t>
            </a:r>
          </a:p>
        </p:txBody>
      </p:sp>
      <p:pic>
        <p:nvPicPr>
          <p:cNvPr id="13" name="Picture 12" descr="sample_Healt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514600"/>
            <a:ext cx="1508760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49840" y="404164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Healthy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257800"/>
            <a:ext cx="11064240" cy="960120"/>
          </a:xfrm>
          <a:prstGeom prst="round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529"/>
                </a:solidFill>
                <a:latin typeface="Calibri"/>
              </a:rPr>
              <a:t>Συμπέρασμα: μετά τη διόρθωση το 100% παραμένει — αποδείχθηκε γνήσιο (έλεγχος near-duplicates = false positives· PlantVillage = εργαστηριακές, εύκολα διαχωρίσιμες εικόνες). Δείχνει ερευνητική αυστηρότητα.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ΠΟΎ ΒΡΊΣΚΟΜΑΙ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Τρέχουσα κατάσταση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1064240" cy="429768"/>
          </a:xfrm>
          <a:prstGeom prst="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Ορισμός &amp; εκπαίδευση MobileNetV2 (float)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837944"/>
            <a:ext cx="1965960" cy="320040"/>
          </a:xfrm>
          <a:prstGeom prst="round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Ολοκληρωμένο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12848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int8 quantization (quantize.py)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267712"/>
            <a:ext cx="1965960" cy="320040"/>
          </a:xfrm>
          <a:prstGeom prst="round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Ολοκληρωμένο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42616"/>
            <a:ext cx="11064240" cy="429768"/>
          </a:xfrm>
          <a:prstGeom prst="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42616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Export weights + golden vectors (export.py)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697480"/>
            <a:ext cx="1965960" cy="320040"/>
          </a:xfrm>
          <a:prstGeom prst="round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Ολοκληρωμένο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72384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Bit-exact C μοντέλο αναφοράς (όλα τα engines)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127248"/>
            <a:ext cx="1965960" cy="320040"/>
          </a:xfrm>
          <a:prstGeom prst="round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Ολοκληρωμένο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502152"/>
            <a:ext cx="11064240" cy="429768"/>
          </a:xfrm>
          <a:prstGeom prst="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02152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Διόρθωση data leakage + καθαρό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3557016"/>
            <a:ext cx="1965960" cy="320040"/>
          </a:xfrm>
          <a:prstGeom prst="round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Ολοκληρωμένο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31920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AXI4 μεταφορά δεδομένων PS ↔ PL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3986784"/>
            <a:ext cx="1965960" cy="320040"/>
          </a:xfrm>
          <a:prstGeom prst="round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Σε εξέλιξη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361688"/>
            <a:ext cx="11064240" cy="429768"/>
          </a:xfrm>
          <a:prstGeom prst="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61688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Verilog RTL engines (conv, dwconv, requant, …)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4416552"/>
            <a:ext cx="1965960" cy="32004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404040"/>
                </a:solidFill>
                <a:latin typeface="Calibri"/>
              </a:rPr>
              <a:t>Επόμενο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91456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Επαλήθευση RTL έναντι golden vectors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846320"/>
            <a:ext cx="1965960" cy="32004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404040"/>
                </a:solidFill>
                <a:latin typeface="Calibri"/>
              </a:rPr>
              <a:t>Επόμενο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221224"/>
            <a:ext cx="11064240" cy="429768"/>
          </a:xfrm>
          <a:prstGeom prst="rect">
            <a:avLst/>
          </a:prstGeom>
          <a:solidFill>
            <a:srgbClr val="F3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21224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On-board: SD → DDR → PL → αποτέλεσμα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5276088"/>
            <a:ext cx="1965960" cy="32004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404040"/>
                </a:solidFill>
                <a:latin typeface="Calibri"/>
              </a:rPr>
              <a:t>Επόμενο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50992"/>
            <a:ext cx="84124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22529"/>
                </a:solidFill>
                <a:latin typeface="Calibri"/>
              </a:rPr>
              <a:t>Live camera (stretch)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5705856"/>
            <a:ext cx="1965960" cy="32004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404040"/>
                </a:solidFill>
                <a:latin typeface="Calibri"/>
              </a:rPr>
              <a:t>Μελλοντικό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8D4A"/>
                </a:solidFill>
                <a:latin typeface="Calibri"/>
              </a:rPr>
              <a:t>ΕΠΌΜΕΝΑ ΒΉΜΑΤΑ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185B"/>
                </a:solidFill>
                <a:latin typeface="Calibri"/>
              </a:rPr>
              <a:t>Roadmap προς το υλικό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280160" cy="381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382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Διπλωματική · MobileNetV2 → FPGA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1783080"/>
            <a:ext cx="566928" cy="566928"/>
          </a:xfrm>
          <a:prstGeom prst="ellipse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647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B185B"/>
                </a:solidFill>
                <a:latin typeface="Calibri"/>
              </a:rPr>
              <a:t>AXI4-Stream / DMA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6712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C757D"/>
                </a:solidFill>
                <a:latin typeface="Calibri"/>
              </a:rPr>
              <a:t>Ολοκλήρωση μεταφοράς δεδομένων PS ↔ PL και ελέγχου ροής.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724912"/>
            <a:ext cx="566928" cy="5669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0662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B185B"/>
                </a:solidFill>
                <a:latin typeface="Calibri"/>
              </a:rPr>
              <a:t>RTL engines σε Verilog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6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C757D"/>
                </a:solidFill>
                <a:latin typeface="Calibri"/>
              </a:rPr>
              <a:t>Υλοποίηση conv1×1, depthwise 3×3, requantize+ReLU6, residual-add — καθρέφτης του C μοντέλου.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666744"/>
            <a:ext cx="566928" cy="566928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4845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B185B"/>
                </a:solidFill>
                <a:latin typeface="Calibri"/>
              </a:rPr>
              <a:t>Layer-by-layer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05079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C757D"/>
                </a:solidFill>
                <a:latin typeface="Calibri"/>
              </a:rPr>
              <a:t>Κάθε block bit-exact έναντι των golden vectors· debugging σε C πριν τα waveforms.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4608576"/>
            <a:ext cx="566928" cy="566928"/>
          </a:xfrm>
          <a:prstGeom prst="ellipse">
            <a:avLst/>
          </a:prstGeom>
          <a:solidFill>
            <a:srgbClr val="3B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59028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B185B"/>
                </a:solidFill>
                <a:latin typeface="Calibri"/>
              </a:rPr>
              <a:t>Πλήρες δίκτυο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99262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C757D"/>
                </a:solidFill>
                <a:latin typeface="Calibri"/>
              </a:rPr>
              <a:t>Ενορχήστρωση controller σε όλα τα blocks· σύγκριση ολόκληρου του δικτύου (CORE goal).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5550408"/>
            <a:ext cx="566928" cy="566928"/>
          </a:xfrm>
          <a:prstGeom prst="ellips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532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B185B"/>
                </a:solidFill>
                <a:latin typeface="Calibri"/>
              </a:rPr>
              <a:t>On-board &amp; (stretch) κάμερα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934456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C757D"/>
                </a:solidFill>
                <a:latin typeface="Calibri"/>
              </a:rPr>
              <a:t>SD → DDR → PL → κλάση στην πλακέτα· αργότερα live camera.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9A2E"/>
                </a:solidFill>
                <a:latin typeface="Calibri"/>
              </a:rPr>
              <a:t>ΣΥΝΟΨΗ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Πού βρίσκομαι σήμερα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C99A2E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Ολόκληρη η αλυσίδα λογισμικού έτοιμη: float → int8 → export → bit-exact C μοντέλο.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C99A2E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Όλες οι υπολογιστικές μηχανές υλοποιημένες &amp; επαληθευμένες στο C.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C99A2E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Καθαρό, leakage-free dataset — το accuracy αποδείχθηκε γνήσιο.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C99A2E"/>
                </a:solidFill>
                <a:latin typeface="Calibri"/>
              </a:rPr>
              <a:t>▸  </a:t>
            </a:r>
            <a:r>
              <a:rPr sz="1800" b="0">
                <a:solidFill>
                  <a:srgbClr val="FFFFFF"/>
                </a:solidFill>
                <a:latin typeface="Calibri"/>
              </a:rPr>
              <a:t>Έτοιμο το «spec» και τα golden vectors για να ξεκινήσει το RTL.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349240"/>
            <a:ext cx="2011680" cy="50800"/>
          </a:xfrm>
          <a:prstGeom prst="rect">
            <a:avLst/>
          </a:prstGeom>
          <a:solidFill>
            <a:srgbClr val="4C8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Ευχαριστώ — Ερωτήσεις;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